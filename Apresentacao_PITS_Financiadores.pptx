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261E14"/>
          </a:solidFill>
          <a:ln w="15240">
            <a:solidFill>
              <a:srgbClr val="8B5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 b="1">
                <a:solidFill>
                  <a:srgbClr val="BE871E"/>
                </a:solidFill>
                <a:latin typeface="Arial"/>
              </a:defRPr>
            </a:pPr>
            <a:r>
              <a:t>PROJETO FUNDECI / 2025.0016 • BANCO DO NORDESTE</a:t>
            </a:r>
          </a:p>
          <a:p>
            <a:pPr>
              <a:spcAft>
                <a:spcPts val="14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PITS — Plataforma de Inteligência Territorial Socioenergética</a:t>
            </a:r>
          </a:p>
          <a:p>
            <a:pPr>
              <a:spcAft>
                <a:spcPts val="3200"/>
              </a:spcAft>
              <a:defRPr sz="1600">
                <a:solidFill>
                  <a:srgbClr val="DCD7CD"/>
                </a:solidFill>
                <a:latin typeface="Arial"/>
              </a:defRPr>
            </a:pPr>
            <a:r>
              <a:t>Framework HAMILTON: Integração Comunidade–Biomassa para o Planejamento Territorial Sustentável da Caatinga e Transição Energética Justa</a:t>
            </a:r>
          </a:p>
          <a:p>
            <a:pPr>
              <a:defRPr sz="1300">
                <a:solidFill>
                  <a:srgbClr val="B4AAA0"/>
                </a:solidFill>
                <a:latin typeface="Arial"/>
              </a:defRPr>
            </a:pPr>
            <a:r>
              <a:t>Apresentação Executiva para Financiadores, Parceiros Estratégicos e Tomadores de Decisão</a:t>
            </a:r>
            <a:br/>
            <a:r>
              <a:t>Território Piloto: 8 Municípios do Semiárido Cearense • Modelagem Científica 100% Auditada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E3C"/>
                </a:solidFill>
                <a:latin typeface="Arial"/>
              </a:defRPr>
            </a:pPr>
            <a:r>
              <a:t>PLATAFORMA PITS • PROJETO FUNDECI/2025.0016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C2416"/>
                </a:solidFill>
                <a:latin typeface="Arial"/>
              </a:defRPr>
            </a:pPr>
            <a:r>
              <a:t>A Tese de Investimento: Por Que a PITS Transforma a Alocação de Recursos?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DA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73695F"/>
                </a:solidFill>
                <a:latin typeface="Arial"/>
              </a:defRPr>
            </a:pPr>
            <a:r>
              <a:t>PITS — Framework HAMILTON • Dados Auditados: IBGE (2022/2025) | MapBiomas Col. 11 (2025) | SFB/IFN | INMET                Slide 2 de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2918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B43228"/>
                </a:solidFill>
                <a:latin typeface="Arial"/>
              </a:defRPr>
            </a:pPr>
            <a:r>
              <a:t>1. O Paradoxo do Semiárido</a:t>
            </a:r>
          </a:p>
          <a:p>
            <a:pPr>
              <a:defRPr sz="1200">
                <a:solidFill>
                  <a:srgbClr val="2C2416"/>
                </a:solidFill>
              </a:defRPr>
            </a:pPr>
            <a:r>
              <a:t>• A Caatinga abriga a maior densidade populacional semiárida do planeta (~28 milhões de pessoas).</a:t>
            </a:r>
            <a:br/>
            <a:r>
              <a:t>• Alta dependência de lenha predatória para energia domiciliar e cerâmica.</a:t>
            </a:r>
            <a:br/>
            <a:r>
              <a:t>• Políticas públicas tradicionais olham recursos florestais e carências sociais de forma isolada, gerando ineficiência nos investimentos.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3736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4A7C59"/>
                </a:solidFill>
                <a:latin typeface="Arial"/>
              </a:defRPr>
            </a:pPr>
            <a:r>
              <a:t>2. A Resposta da PITS</a:t>
            </a:r>
          </a:p>
          <a:p>
            <a:pPr>
              <a:defRPr sz="1200">
                <a:solidFill>
                  <a:srgbClr val="2C2416"/>
                </a:solidFill>
              </a:defRPr>
            </a:pPr>
            <a:r>
              <a:t>• Integração Matemática Pioneira: cruza o Potencial Energético Local (PEL) com o Índice de Vulnerabilidade Social e Climático (IVS*).</a:t>
            </a:r>
            <a:br/>
            <a:r>
              <a:t>• Gera o IPSE (Índice de Potencial Socioenergético), apontando exatamente onde o investimento gera o maior retorno combinado.</a:t>
            </a:r>
            <a:br/>
            <a:r>
              <a:t>• Transforma o extrativismo predatório em bioeconomia circular sustentável.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554480"/>
            <a:ext cx="32918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73736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8B5E3C"/>
                </a:solidFill>
                <a:latin typeface="Arial"/>
              </a:defRPr>
            </a:pPr>
            <a:r>
              <a:t>3. Retorno do Financiamento</a:t>
            </a:r>
          </a:p>
          <a:p>
            <a:pPr>
              <a:defRPr sz="1200">
                <a:solidFill>
                  <a:srgbClr val="2C2416"/>
                </a:solidFill>
              </a:defRPr>
            </a:pPr>
            <a:r>
              <a:t>• Redução do Risco de Crédito/Subvenção: decisões fundamentadas em dados públicos oficiais e auditáveis.</a:t>
            </a:r>
            <a:br/>
            <a:r>
              <a:t>• Simulação de Cenários 10 Anos: visualização prévia do impacto antes de liberar o desembolso.</a:t>
            </a:r>
            <a:br/>
            <a:r>
              <a:t>• Conformidade ESG/ODS: alinhado aos ODS 7 (Energia Limpa), 10 (Redução das Desigualdades) e 13 (Ação Climática).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E3C"/>
                </a:solidFill>
                <a:latin typeface="Arial"/>
              </a:defRPr>
            </a:pPr>
            <a:r>
              <a:t>PLATAFORMA PITS • PROJETO FUNDECI/2025.0016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C2416"/>
                </a:solidFill>
                <a:latin typeface="Arial"/>
              </a:defRPr>
            </a:pPr>
            <a:r>
              <a:t>Rigor Metodológico: 'Zero Dados Inventados' e Rastreabilidade Total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DA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73695F"/>
                </a:solidFill>
                <a:latin typeface="Arial"/>
              </a:defRPr>
            </a:pPr>
            <a:r>
              <a:t>PITS — Framework HAMILTON • Dados Auditados: IBGE (2022/2025) | MapBiomas Col. 11 (2025) | SFB/IFN | INMET                Slide 3 de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0728655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8B5E3C"/>
                </a:solidFill>
                <a:latin typeface="Arial"/>
              </a:defRPr>
            </a:pPr>
            <a:r>
              <a:t>Princípio de Auditoria: Todas as variáveis derivam de fontes primárias do Estado brasileiro</a:t>
            </a:r>
          </a:p>
          <a:p>
            <a:pPr>
              <a:spcAft>
                <a:spcPts val="800"/>
              </a:spcAft>
              <a:defRPr sz="1200">
                <a:solidFill>
                  <a:srgbClr val="2C2416"/>
                </a:solidFill>
              </a:defRPr>
            </a:pPr>
            <a:r>
              <a:t>• MapBiomas Coleção 11 (2025): Mapeamento de 40 anos de uso da terra e área de Caatinga nativa em hectares para cálculo do PEL e conservação.</a:t>
            </a:r>
          </a:p>
          <a:p>
            <a:pPr>
              <a:spcAft>
                <a:spcPts val="800"/>
              </a:spcAft>
              <a:defRPr sz="1200">
                <a:solidFill>
                  <a:srgbClr val="2C2416"/>
                </a:solidFill>
              </a:defRPr>
            </a:pPr>
            <a:r>
              <a:t>• IBGE Censo Demográfico 2022: Microdados oficiais de carência domiciliar (água canalizada, esgotamento, coleta de lixo e energia) para o IVS.</a:t>
            </a:r>
          </a:p>
          <a:p>
            <a:pPr>
              <a:spcAft>
                <a:spcPts val="800"/>
              </a:spcAft>
              <a:defRPr sz="1200">
                <a:solidFill>
                  <a:srgbClr val="2C2416"/>
                </a:solidFill>
              </a:defRPr>
            </a:pPr>
            <a:r>
              <a:t>• SFB / IFN-CE &amp; Literatura Científica: Inventário Florestal Nacional do Ceará para produtividade real de biomassa (t/ha/ano) e poder calorífico (PCI).</a:t>
            </a:r>
          </a:p>
          <a:p>
            <a:pPr>
              <a:spcAft>
                <a:spcPts val="800"/>
              </a:spcAft>
              <a:defRPr sz="1200">
                <a:solidFill>
                  <a:srgbClr val="2C2416"/>
                </a:solidFill>
              </a:defRPr>
            </a:pPr>
            <a:r>
              <a:t>• IBGE PEVS &amp; PPM (Pecuária Municipal): Volume extraído de lenha nativa e tamanho dos rebanhos bovino, suíno e caprino para simulação de biogás e H2V.</a:t>
            </a:r>
          </a:p>
          <a:p>
            <a:pPr>
              <a:spcAft>
                <a:spcPts val="800"/>
              </a:spcAft>
              <a:defRPr sz="1200">
                <a:solidFill>
                  <a:srgbClr val="2C2416"/>
                </a:solidFill>
              </a:defRPr>
            </a:pPr>
            <a:r>
              <a:t>• INMET BDMEP (Série Histórica): Precipitação pluviométrica real captada por estações meteorológicas de referência para cálculo da penalidade de seca.</a:t>
            </a:r>
          </a:p>
          <a:p>
            <a:pPr>
              <a:spcAft>
                <a:spcPts val="800"/>
              </a:spcAft>
              <a:defRPr sz="1200">
                <a:solidFill>
                  <a:srgbClr val="2C2416"/>
                </a:solidFill>
              </a:defRPr>
            </a:pPr>
            <a:r>
              <a:t>• IPECE / IQM (Ceará): Índice de Qualidade do Meio Ambiente e rateio do ICMS Ecológico para o Índice de Governança Local (IGL).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E3C"/>
                </a:solidFill>
                <a:latin typeface="Arial"/>
              </a:defRPr>
            </a:pPr>
            <a:r>
              <a:t>PLATAFORMA PITS • PROJETO FUNDECI/2025.0016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C2416"/>
                </a:solidFill>
                <a:latin typeface="Arial"/>
              </a:defRPr>
            </a:pPr>
            <a:r>
              <a:t>O Motor Científico: O Significado Matemático dos Indicadores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DA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73695F"/>
                </a:solidFill>
                <a:latin typeface="Arial"/>
              </a:defRPr>
            </a:pPr>
            <a:r>
              <a:t>PITS — Framework HAMILTON • Dados Auditados: IBGE (2022/2025) | MapBiomas Col. 11 (2025) | SFB/IFN | INMET                Slide 4 de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0728655" cy="1280160"/>
          </a:xfrm>
          <a:prstGeom prst="roundRect">
            <a:avLst/>
          </a:prstGeom>
          <a:solidFill>
            <a:srgbClr val="F0EBE1"/>
          </a:solidFill>
          <a:ln w="15240">
            <a:solidFill>
              <a:srgbClr val="8B5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9164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E3C"/>
                </a:solidFill>
              </a:defRPr>
            </a:pPr>
            <a:r>
              <a:t>A EQUAÇÃO MESTRA DO IPSE (Artigo Científico PITS / Seção 3.1):</a:t>
            </a:r>
          </a:p>
          <a:p>
            <a:pPr>
              <a:defRPr sz="2000" b="1">
                <a:solidFill>
                  <a:srgbClr val="2C2416"/>
                </a:solidFill>
              </a:defRPr>
            </a:pPr>
            <a:r>
              <a:t>IPSE = PEL / IVS*     |     PEL = Ai · Yi · PCI · η     |     IVS = ∑ wk · 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3328416" cy="3108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9626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4A7C59"/>
                </a:solidFill>
              </a:defRPr>
            </a:pPr>
            <a:r>
              <a:t>PEL (Potencial Energético)</a:t>
            </a:r>
          </a:p>
          <a:p>
            <a:pPr>
              <a:spcAft>
                <a:spcPts val="1000"/>
              </a:spcAft>
              <a:defRPr sz="1000" b="1">
                <a:solidFill>
                  <a:srgbClr val="73695F"/>
                </a:solidFill>
              </a:defRPr>
            </a:pPr>
            <a:r>
              <a:t>Eq. 1 — em Gigajoules/ano (GJ/ano)</a:t>
            </a:r>
          </a:p>
          <a:p>
            <a:pPr>
              <a:defRPr sz="1100">
                <a:solidFill>
                  <a:srgbClr val="2C2416"/>
                </a:solidFill>
              </a:defRPr>
            </a:pPr>
            <a:r>
              <a:t>Multiplica a área nativa real (MapBiomas) pela produtividade de biomassa (Yi), poder calorífico (PCI) e eficiência térmica (η). Mede o teto de energia renovável manejável.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3017520"/>
            <a:ext cx="3328416" cy="3108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3200400"/>
            <a:ext cx="29626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B43228"/>
                </a:solidFill>
              </a:defRPr>
            </a:pPr>
            <a:r>
              <a:t>IVS* (Vulnerabilidade Climática)</a:t>
            </a:r>
          </a:p>
          <a:p>
            <a:pPr>
              <a:spcAft>
                <a:spcPts val="1000"/>
              </a:spcAft>
              <a:defRPr sz="1000" b="1">
                <a:solidFill>
                  <a:srgbClr val="73695F"/>
                </a:solidFill>
              </a:defRPr>
            </a:pPr>
            <a:r>
              <a:t>Eq. 4 e 5 — Escala de 0 a 1 (Censo 2022)</a:t>
            </a:r>
          </a:p>
          <a:p>
            <a:pPr>
              <a:defRPr sz="1100">
                <a:solidFill>
                  <a:srgbClr val="2C2416"/>
                </a:solidFill>
              </a:defRPr>
            </a:pPr>
            <a:r>
              <a:t>Média ponderada das carências domiciliares das famílias rurais, com piso paramétrico e penalidade pelo déficit hídrico histórico. Quanto MAIOR o IVS, mais urgente é a carência.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1" y="3017520"/>
            <a:ext cx="3328416" cy="3108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1" y="3200400"/>
            <a:ext cx="29626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BE871E"/>
                </a:solidFill>
              </a:defRPr>
            </a:pPr>
            <a:r>
              <a:t>IPSE Normalizado (0 a 1)</a:t>
            </a:r>
          </a:p>
          <a:p>
            <a:pPr>
              <a:spcAft>
                <a:spcPts val="1000"/>
              </a:spcAft>
              <a:defRPr sz="1000" b="1">
                <a:solidFill>
                  <a:srgbClr val="73695F"/>
                </a:solidFill>
              </a:defRPr>
            </a:pPr>
            <a:r>
              <a:t>Eq. 6 e 7 — Indicador Final de Decisão</a:t>
            </a:r>
          </a:p>
          <a:p>
            <a:pPr>
              <a:defRPr sz="1100">
                <a:solidFill>
                  <a:srgbClr val="2C2416"/>
                </a:solidFill>
              </a:defRPr>
            </a:pPr>
            <a:r>
              <a:t>Razão entre o potencial de energia e o índice de vulnerabilidade. Normalizado entre os municípios: Baixo (&lt;0,30), Moderado (0,30–0,59) e Alto (≥0,60). Prioriza projetos de alto impacto.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E3C"/>
                </a:solidFill>
                <a:latin typeface="Arial"/>
              </a:defRPr>
            </a:pPr>
            <a:r>
              <a:t>PLATAFORMA PITS • PROJETO FUNDECI/2025.0016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C2416"/>
                </a:solidFill>
                <a:latin typeface="Arial"/>
              </a:defRPr>
            </a:pPr>
            <a:r>
              <a:t>Dashboard Executivo 360°: Visão Territorial em Tempo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DA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73695F"/>
                </a:solidFill>
                <a:latin typeface="Arial"/>
              </a:defRPr>
            </a:pPr>
            <a:r>
              <a:t>PITS — Framework HAMILTON • Dados Auditados: IBGE (2022/2025) | MapBiomas Col. 11 (2025) | SFB/IFN | INMET                Slide 5 de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5780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8B5E3C"/>
                </a:solidFill>
              </a:defRPr>
            </a:pPr>
            <a:r>
              <a:t>1. Velocímetro IPSE Oficial</a:t>
            </a:r>
          </a:p>
          <a:p>
            <a:pPr>
              <a:defRPr sz="1100">
                <a:solidFill>
                  <a:srgbClr val="2C2416"/>
                </a:solidFill>
              </a:defRPr>
            </a:pPr>
            <a:r>
              <a:t>Exibe o IPSE normalizado e bruto na tela inicial. Geometria e contrastes calibrados com feedback cromático imediato do status do município.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54480"/>
            <a:ext cx="525780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91640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8B5E3C"/>
                </a:solidFill>
              </a:defRPr>
            </a:pPr>
            <a:r>
              <a:t>2. Quatro Indicadores de Apoio</a:t>
            </a:r>
          </a:p>
          <a:p>
            <a:pPr>
              <a:defRPr sz="1100">
                <a:solidFill>
                  <a:srgbClr val="2C2416"/>
                </a:solidFill>
              </a:defRPr>
            </a:pPr>
            <a:r>
              <a:t>Subíndices setoriais: IB (Biomassa nativa), IVS (Vulnerabilidade invertida), IIE (Infraestrutura solar e SAFs) e IGL (Governança e resíduos).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63239"/>
            <a:ext cx="525780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00399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8B5E3C"/>
                </a:solidFill>
              </a:defRPr>
            </a:pPr>
            <a:r>
              <a:t>3. Mapa Territorial Interativo</a:t>
            </a:r>
          </a:p>
          <a:p>
            <a:pPr>
              <a:defRPr sz="1100">
                <a:solidFill>
                  <a:srgbClr val="2C2416"/>
                </a:solidFill>
              </a:defRPr>
            </a:pPr>
            <a:r>
              <a:t>Camadas GIS da Caatinga: limites municipais, corredores ecológicos, zonas de manejo comunitário e alertas de desmatamento.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063239"/>
            <a:ext cx="525780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200399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8B5E3C"/>
                </a:solidFill>
              </a:defRPr>
            </a:pPr>
            <a:r>
              <a:t>4. Série Histórica MapBiomas 40 Anos</a:t>
            </a:r>
          </a:p>
          <a:p>
            <a:pPr>
              <a:defRPr sz="1100">
                <a:solidFill>
                  <a:srgbClr val="2C2416"/>
                </a:solidFill>
              </a:defRPr>
            </a:pPr>
            <a:r>
              <a:t>Evolução temporal (1985–2025) dividida entre vegetação nativa preservada, áreas agropecuárias e malha urbana.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72000"/>
            <a:ext cx="525780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09160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8B5E3C"/>
                </a:solidFill>
              </a:defRPr>
            </a:pPr>
            <a:r>
              <a:t>5. Monitoramento SAD-Caatinga</a:t>
            </a:r>
          </a:p>
          <a:p>
            <a:pPr>
              <a:defRPr sz="1100">
                <a:solidFill>
                  <a:srgbClr val="2C2416"/>
                </a:solidFill>
              </a:defRPr>
            </a:pPr>
            <a:r>
              <a:t>Contabilização oficial de laudos e hectares desmatados, permitindo intervenções rápidas de fiscalização e proteção florestal.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572000"/>
            <a:ext cx="525780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709160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8B5E3C"/>
                </a:solidFill>
              </a:defRPr>
            </a:pPr>
            <a:r>
              <a:t>6. Alertas e Projeção Decisória</a:t>
            </a:r>
          </a:p>
          <a:p>
            <a:pPr>
              <a:defRPr sz="1100">
                <a:solidFill>
                  <a:srgbClr val="2C2416"/>
                </a:solidFill>
              </a:defRPr>
            </a:pPr>
            <a:r>
              <a:t>Motor de regras que emite diagnósticos automáticos (ex.: 'déficit crítico de água') e projeta a curva de 10 anos.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E3C"/>
                </a:solidFill>
                <a:latin typeface="Arial"/>
              </a:defRPr>
            </a:pPr>
            <a:r>
              <a:t>PLATAFORMA PITS • PROJETO FUNDECI/2025.0016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C2416"/>
                </a:solidFill>
                <a:latin typeface="Arial"/>
              </a:defRPr>
            </a:pPr>
            <a:r>
              <a:t>Módulo I: Biofísico-Ecológico e Manejo Sustentável da Caatinga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DA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73695F"/>
                </a:solidFill>
                <a:latin typeface="Arial"/>
              </a:defRPr>
            </a:pPr>
            <a:r>
              <a:t>PITS — Framework HAMILTON • Dados Auditados: IBGE (2022/2025) | MapBiomas Col. 11 (2025) | SFB/IFN | INMET                Slide 6 de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4A7C59"/>
                </a:solidFill>
              </a:defRPr>
            </a:pPr>
            <a:r>
              <a:t>Diagnóstico Biofísico do Território</a:t>
            </a:r>
          </a:p>
          <a:p>
            <a:pPr>
              <a:defRPr sz="1200">
                <a:solidFill>
                  <a:srgbClr val="2C2416"/>
                </a:solidFill>
              </a:defRPr>
            </a:pPr>
            <a:r>
              <a:t>• Cobertura Vegetal Nativa (% e ha): Mede o estoque florestal remanescente da Caatinga pelo MapBiomas 2025.</a:t>
            </a:r>
            <a:br/>
            <a:r>
              <a:t>• Densidade de Biomassa (t/ha): Estoque em pé mensurado pelo Inventário Florestal Nacional (SFB/IFN-CE).</a:t>
            </a:r>
            <a:br/>
            <a:r>
              <a:t>• Extração Anual de Lenha (m³/ano): Dados da PEVS/IBGE identificando o nível de pressão sobre a mata nativa.</a:t>
            </a:r>
            <a:br/>
            <a:r>
              <a:t>• Monitoramento Pluviométrico (INMET): Conexão direta com a estação meteorológica mais próxima para cálculo de resiliência a secas.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8B5E3C"/>
                </a:solidFill>
              </a:defRPr>
            </a:pPr>
            <a:r>
              <a:t>Catálogo Botânico &amp; PNDBio</a:t>
            </a:r>
          </a:p>
          <a:p>
            <a:pPr>
              <a:defRPr sz="1200">
                <a:solidFill>
                  <a:srgbClr val="2C2416"/>
                </a:solidFill>
              </a:defRPr>
            </a:pPr>
            <a:r>
              <a:t>• Catálogo Botânico Interativo: Espécies nativas-chave da Caatinga (Jurema-preta, Marmeleiro, Catingueira, Sabiá) com detalhamento de turnos de corte sustentável e capacidade de rebrota.</a:t>
            </a:r>
            <a:br/>
            <a:r>
              <a:t>• Zoneamento de Paisagens Multifuncionais: Separa áreas de preservação permanente (APP) e reservas legais de áreas aptas ao manejo florestal comunitário.</a:t>
            </a:r>
            <a:br/>
            <a:r>
              <a:t>• Alinhamento à PNDBio: Cumpre os eixos estratégicos do Plano Nacional de Desenvolvimento da Bioeconomia.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E3C"/>
                </a:solidFill>
                <a:latin typeface="Arial"/>
              </a:defRPr>
            </a:pPr>
            <a:r>
              <a:t>PLATAFORMA PITS • PROJETO FUNDECI/2025.0016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C2416"/>
                </a:solidFill>
                <a:latin typeface="Arial"/>
              </a:defRPr>
            </a:pPr>
            <a:r>
              <a:t>Módulo II: Simulador de Hidrogênio Renovável (H2) e Bioeconomia Circular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DA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73695F"/>
                </a:solidFill>
                <a:latin typeface="Arial"/>
              </a:defRPr>
            </a:pPr>
            <a:r>
              <a:t>PITS — Framework HAMILTON • Dados Auditados: IBGE (2022/2025) | MapBiomas Col. 11 (2025) | SFB/IFN | INMET                Slide 7 de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A7C59"/>
                </a:solidFill>
              </a:defRPr>
            </a:pPr>
            <a:r>
              <a:t>Rota A: Gaseificação de Biomassa</a:t>
            </a:r>
          </a:p>
          <a:p>
            <a:pPr>
              <a:spcAft>
                <a:spcPts val="1000"/>
              </a:spcAft>
              <a:defRPr sz="1100" b="1">
                <a:solidFill>
                  <a:srgbClr val="8B5E3C"/>
                </a:solidFill>
              </a:defRPr>
            </a:pPr>
            <a:r>
              <a:t>Reação Termoquímica:</a:t>
            </a:r>
            <a:br/>
            <a:r>
              <a:t>CHmOn + (2-n)H2O → CO2 + (2-n+m/2)H2</a:t>
            </a:r>
          </a:p>
          <a:p>
            <a:pPr>
              <a:defRPr sz="1200">
                <a:solidFill>
                  <a:srgbClr val="2C2416"/>
                </a:solidFill>
              </a:defRPr>
            </a:pPr>
            <a:r>
              <a:t>• Transforma resíduos florestais e podas de manejo sustentável em hidrogênio de baixo carbono.</a:t>
            </a:r>
            <a:br/>
            <a:r>
              <a:t>• Parâmetros configuráveis: fração colhível sustentável (fi) e regime tecnológico (Conservador, Típico e Otimizado).</a:t>
            </a:r>
            <a:br/>
            <a:r>
              <a:t>• Calcula a produção anual em MWh/ano e toneladas de H2.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36E91"/>
                </a:solidFill>
              </a:defRPr>
            </a:pPr>
            <a:r>
              <a:t>Rota B: Reforma a Vapor de Biogás</a:t>
            </a:r>
          </a:p>
          <a:p>
            <a:pPr>
              <a:spcAft>
                <a:spcPts val="1000"/>
              </a:spcAft>
              <a:defRPr sz="1100" b="1">
                <a:solidFill>
                  <a:srgbClr val="8B5E3C"/>
                </a:solidFill>
              </a:defRPr>
            </a:pPr>
            <a:r>
              <a:t>Reação de Reforma (BSR):</a:t>
            </a:r>
            <a:br/>
            <a:r>
              <a:t>CH4 + 2H2O → CO2 + 4H2 (com razão S/C)</a:t>
            </a:r>
          </a:p>
          <a:p>
            <a:pPr>
              <a:defRPr sz="1200">
                <a:solidFill>
                  <a:srgbClr val="2C2416"/>
                </a:solidFill>
              </a:defRPr>
            </a:pPr>
            <a:r>
              <a:t>• Valorização de dejetos pecuários locais (bovinos, suínos e caprinos da Pesquisa Pecuária Municipal/IBGE).</a:t>
            </a:r>
            <a:br/>
            <a:r>
              <a:t>• Três cenários de coleta: Confinamento Técnico (15%), Semi-intensivo (40%) e Teórico Máximo (100%).</a:t>
            </a:r>
            <a:br/>
            <a:r>
              <a:t>• Guardrail Hídrico Rigoroso: Calcula a demanda exata de água (m³/ano) para garantir não concorrência com o abastecimento humano no semiárido.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E3C"/>
                </a:solidFill>
                <a:latin typeface="Arial"/>
              </a:defRPr>
            </a:pPr>
            <a:r>
              <a:t>PLATAFORMA PITS • PROJETO FUNDECI/2025.0016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C2416"/>
                </a:solidFill>
                <a:latin typeface="Arial"/>
              </a:defRPr>
            </a:pPr>
            <a:r>
              <a:t>Módulo III: Governança Institucional e Repartição Justa de Benefícios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DA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73695F"/>
                </a:solidFill>
                <a:latin typeface="Arial"/>
              </a:defRPr>
            </a:pPr>
            <a:r>
              <a:t>PITS — Framework HAMILTON • Dados Auditados: IBGE (2022/2025) | MapBiomas Col. 11 (2025) | SFB/IFN | INMET                Slide 8 de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328416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8B5E3C"/>
                </a:solidFill>
              </a:defRPr>
            </a:pPr>
            <a:r>
              <a:t>8 Princípios de Elinor Ostrom</a:t>
            </a:r>
          </a:p>
          <a:p>
            <a:pPr>
              <a:spcAft>
                <a:spcPts val="1400"/>
              </a:spcAft>
              <a:defRPr sz="1200">
                <a:solidFill>
                  <a:srgbClr val="2C2416"/>
                </a:solidFill>
              </a:defRPr>
            </a:pPr>
            <a:r>
              <a:t>Mapeamento da maturidade institucional comunitária (regras claras, monitoramento participativo, sanções graduadas e resolução ágil de litígios locais).</a:t>
            </a:r>
          </a:p>
          <a:p>
            <a:pPr>
              <a:defRPr sz="1100">
                <a:solidFill>
                  <a:srgbClr val="73695F"/>
                </a:solidFill>
              </a:defRPr>
            </a:pPr>
            <a:r>
              <a:t>Garantia para o Financiador: Segurança jurídica e social que evita o abandono dos projetos após a fase de implantação.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554480"/>
            <a:ext cx="3328416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73736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4A7C59"/>
                </a:solidFill>
              </a:defRPr>
            </a:pPr>
            <a:r>
              <a:t>Acordos Comunitários de Manejo</a:t>
            </a:r>
          </a:p>
          <a:p>
            <a:pPr>
              <a:spcAft>
                <a:spcPts val="1400"/>
              </a:spcAft>
              <a:defRPr sz="1200">
                <a:solidFill>
                  <a:srgbClr val="2C2416"/>
                </a:solidFill>
              </a:defRPr>
            </a:pPr>
            <a:r>
              <a:t>Gestão digital de termos firmados com associações rurais, detalhando área protegida, metas de manejo e famílias beneficiadas.</a:t>
            </a:r>
          </a:p>
          <a:p>
            <a:pPr>
              <a:defRPr sz="1100">
                <a:solidFill>
                  <a:srgbClr val="73695F"/>
                </a:solidFill>
              </a:defRPr>
            </a:pPr>
            <a:r>
              <a:t>Garantia para o Financiador: Segurança jurídica e social que evita o abandono dos projetos após a fase de implantação.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1" y="1554480"/>
            <a:ext cx="3328416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1" y="173736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BE871E"/>
                </a:solidFill>
              </a:defRPr>
            </a:pPr>
            <a:r>
              <a:t>Contratos de PSA e Repartição</a:t>
            </a:r>
          </a:p>
          <a:p>
            <a:pPr>
              <a:spcAft>
                <a:spcPts val="1400"/>
              </a:spcAft>
              <a:defRPr sz="1200">
                <a:solidFill>
                  <a:srgbClr val="2C2416"/>
                </a:solidFill>
              </a:defRPr>
            </a:pPr>
            <a:r>
              <a:t>Instrumentos de Pagamento por Serviços Ambientais com regras transparentes de rateio de receitas entre produtores, fundo comunitário e preservação.</a:t>
            </a:r>
          </a:p>
          <a:p>
            <a:pPr>
              <a:defRPr sz="1100">
                <a:solidFill>
                  <a:srgbClr val="73695F"/>
                </a:solidFill>
              </a:defRPr>
            </a:pPr>
            <a:r>
              <a:t>Garantia para o Financiador: Segurança jurídica e social que evita o abandono dos projetos após a fase de implantação.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E3C"/>
                </a:solidFill>
                <a:latin typeface="Arial"/>
              </a:defRPr>
            </a:pPr>
            <a:r>
              <a:t>PLATAFORMA PITS • PROJETO FUNDECI/2025.0016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C2416"/>
                </a:solidFill>
                <a:latin typeface="Arial"/>
              </a:defRPr>
            </a:pPr>
            <a:r>
              <a:t>Módulo IV: Mensuração, Relato e Verificação (MRV Contínuo)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DA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73695F"/>
                </a:solidFill>
                <a:latin typeface="Arial"/>
              </a:defRPr>
            </a:pPr>
            <a:r>
              <a:t>PITS — Framework HAMILTON • Dados Auditados: IBGE (2022/2025) | MapBiomas Col. 11 (2025) | SFB/IFN | INMET                Slide 9 de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8B5E3C"/>
                </a:solidFill>
              </a:defRPr>
            </a:pPr>
            <a:r>
              <a:t>Scorecard de Impacto e Metas</a:t>
            </a:r>
          </a:p>
          <a:p>
            <a:pPr>
              <a:defRPr sz="1200">
                <a:solidFill>
                  <a:srgbClr val="2C2416"/>
                </a:solidFill>
              </a:defRPr>
            </a:pPr>
            <a:r>
              <a:t>• Indicadores de Eficácia Territorial: Metas de redução de corte ilegal, área em regeneração natural assistida e volume de biomassa certificada.</a:t>
            </a:r>
            <a:br/>
            <a:r>
              <a:t>• Indicadores Sociais de Retorno: Famílias integradas a planos de manejo, geração de renda comunitária e acesso a tecnologias sociais.</a:t>
            </a:r>
            <a:br/>
            <a:r>
              <a:t>• Painel de Conformidade: Monitora desvios entre o plano operacional pactuado e a execução no terreno.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4A7C59"/>
                </a:solidFill>
              </a:defRPr>
            </a:pPr>
            <a:r>
              <a:t>Auditoria Participativa de Campo</a:t>
            </a:r>
          </a:p>
          <a:p>
            <a:pPr>
              <a:defRPr sz="1200">
                <a:solidFill>
                  <a:srgbClr val="2C2416"/>
                </a:solidFill>
              </a:defRPr>
            </a:pPr>
            <a:r>
              <a:t>• Diário de Bordo Digital: Registro de ocorrências, vistorias técnicas e fotos georreferenciadas diretamente pelos agentes comunitários.</a:t>
            </a:r>
            <a:br/>
            <a:r>
              <a:t>• Validação Cruzada: Combina satélites (MapBiomas Alerta) com a checagem no solo realizada pelas comunidades locais.</a:t>
            </a:r>
            <a:br/>
            <a:r>
              <a:t>• Prestação de Contas Simplificada: Dados estruturados prontos para relatórios técnicos exigidos por bancos e agências de fomento.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E3C"/>
                </a:solidFill>
                <a:latin typeface="Arial"/>
              </a:defRPr>
            </a:pPr>
            <a:r>
              <a:t>PLATAFORMA PITS • PROJETO FUNDECI/2025.0016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C2416"/>
                </a:solidFill>
                <a:latin typeface="Arial"/>
              </a:defRPr>
            </a:pPr>
            <a:r>
              <a:t>Simulador de Cenários: Testando o Impacto do Investimento em 10 Anos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DA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73695F"/>
                </a:solidFill>
                <a:latin typeface="Arial"/>
              </a:defRPr>
            </a:pPr>
            <a:r>
              <a:t>PITS — Framework HAMILTON • Dados Auditados: IBGE (2022/2025) | MapBiomas Col. 11 (2025) | SFB/IFN | INMET                Slide 10 de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8B5E3C"/>
                </a:solidFill>
              </a:defRPr>
            </a:pPr>
            <a:r>
              <a:t>4 Alavancas de Políticas Públicas</a:t>
            </a:r>
          </a:p>
          <a:p>
            <a:pPr>
              <a:defRPr sz="1200">
                <a:solidFill>
                  <a:srgbClr val="2C2416"/>
                </a:solidFill>
              </a:defRPr>
            </a:pPr>
            <a:r>
              <a:t>1. Expansão de SAFs (%): Acelera a adoção de sistemas agroflorestais sustentáveis.</a:t>
            </a:r>
            <a:br/>
            <a:r>
              <a:t>2. Redução de Lenha Predatória (%): Substituição por manejo formal e fogões ecológicos eficientes.</a:t>
            </a:r>
            <a:br/>
            <a:r>
              <a:t>3. Restauração Florestal (ha): Metas de recuperação da cobertura de Caatinga.</a:t>
            </a:r>
            <a:br/>
            <a:r>
              <a:t>4. Governança e Saneamento (%): Investimento direto em água, saneamento básico e gestão de resíduos.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4A7C59"/>
                </a:solidFill>
              </a:defRPr>
            </a:pPr>
            <a:r>
              <a:t>Resultados e Curva de Trajetória</a:t>
            </a:r>
          </a:p>
          <a:p>
            <a:pPr>
              <a:defRPr sz="1200">
                <a:solidFill>
                  <a:srgbClr val="2C2416"/>
                </a:solidFill>
              </a:defRPr>
            </a:pPr>
            <a:r>
              <a:t>• Antes vs. Depois Instantâneo: Revela o ganho projetado no IPSE Simulado e a redução do IVS (vulnerabilidade).</a:t>
            </a:r>
            <a:br/>
            <a:r>
              <a:t>• Trajetória de 10 Anos no Gráfico: Mostra o ano exato em que o município ultrapassa a Meta Fixa de Sustentabilidade (patamar 0,60).</a:t>
            </a:r>
            <a:br/>
            <a:r>
              <a:t>• Cenários Pré-definidos: 'Transição Moderada', 'Restauração Intensiva' e 'Governança Plena' para rápida avaliação de sensibilidade.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E3C"/>
                </a:solidFill>
                <a:latin typeface="Arial"/>
              </a:defRPr>
            </a:pPr>
            <a:r>
              <a:t>PLATAFORMA PITS • PROJETO FUNDECI/2025.0016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C2416"/>
                </a:solidFill>
                <a:latin typeface="Arial"/>
              </a:defRPr>
            </a:pPr>
            <a:r>
              <a:t>Estudo de Caso Territorial: Os 8 Municípios-Piloto no Ceará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DA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73695F"/>
                </a:solidFill>
                <a:latin typeface="Arial"/>
              </a:defRPr>
            </a:pPr>
            <a:r>
              <a:t>PITS — Framework HAMILTON • Dados Auditados: IBGE (2022/2025) | MapBiomas Col. 11 (2025) | SFB/IFN | INMET                Slide 11 de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0728655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8B5E3C"/>
                </a:solidFill>
              </a:defRPr>
            </a:pPr>
            <a:r>
              <a:t>Ranking Intermunicipal e Perfil Estratégico para Alocação de Recursos</a:t>
            </a:r>
          </a:p>
          <a:p>
            <a:pPr>
              <a:spcAft>
                <a:spcPts val="800"/>
              </a:spcAft>
              <a:defRPr sz="1200">
                <a:solidFill>
                  <a:srgbClr val="2C2416"/>
                </a:solidFill>
              </a:defRPr>
            </a:pPr>
            <a:r>
              <a:t>• Tauá &amp; Crateús (Sertões dos Inhamuns/Crateús): Elevadíssimo estoque de Caatinga nativa e expressivo PEL. Territórios prioritários para polos de bioenergia, biomassa certificada e conservação em larga escala.</a:t>
            </a:r>
          </a:p>
          <a:p>
            <a:pPr>
              <a:spcAft>
                <a:spcPts val="800"/>
              </a:spcAft>
              <a:defRPr sz="1200">
                <a:solidFill>
                  <a:srgbClr val="2C2416"/>
                </a:solidFill>
              </a:defRPr>
            </a:pPr>
            <a:r>
              <a:t>• Senador Pompeu &amp; Quixeramobim (Sertão Central): Bacia leiteira expressiva e forte vulnerabilidade social (IVS). Aptos à rota integrada de biogás pecuário (Rota B de H2) com transição energética justa.</a:t>
            </a:r>
          </a:p>
          <a:p>
            <a:pPr>
              <a:spcAft>
                <a:spcPts val="800"/>
              </a:spcAft>
              <a:defRPr sz="1200">
                <a:solidFill>
                  <a:srgbClr val="2C2416"/>
                </a:solidFill>
              </a:defRPr>
            </a:pPr>
            <a:r>
              <a:t>• Quixadá &amp; Sobral (Pólos Regionais): Maior densidade de infraestrutura agroecológica (IIE) e capacidade institucional (IGL), servindo de entrepostos logísticos e hubs tecnológicos.</a:t>
            </a:r>
          </a:p>
          <a:p>
            <a:pPr>
              <a:spcAft>
                <a:spcPts val="800"/>
              </a:spcAft>
              <a:defRPr sz="1200">
                <a:solidFill>
                  <a:srgbClr val="2C2416"/>
                </a:solidFill>
              </a:defRPr>
            </a:pPr>
            <a:r>
              <a:t>• Iguatu &amp; Cascavel (Litoral/Centro-Sul): Perfis contrastantes de uso do solo que validam a robustez do algoritmo em cenários de transição florestal e pressão periurbana.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E3C"/>
                </a:solidFill>
                <a:latin typeface="Arial"/>
              </a:defRPr>
            </a:pPr>
            <a:r>
              <a:t>PLATAFORMA PITS • PROJETO FUNDECI/2025.0016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2C2416"/>
                </a:solidFill>
                <a:latin typeface="Arial"/>
              </a:defRPr>
            </a:pPr>
            <a:r>
              <a:t>Conclusão: Por Que Investir na Plataforma PITS?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27432"/>
          </a:xfrm>
          <a:prstGeom prst="rect">
            <a:avLst/>
          </a:prstGeom>
          <a:solidFill>
            <a:srgbClr val="DAD0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73695F"/>
                </a:solidFill>
                <a:latin typeface="Arial"/>
              </a:defRPr>
            </a:pPr>
            <a:r>
              <a:t>PITS — Framework HAMILTON • Dados Auditados: IBGE (2022/2025) | MapBiomas Col. 11 (2025) | SFB/IFN | INMET                Slide 12 de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328416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8B5E3C"/>
                </a:solidFill>
              </a:defRPr>
            </a:pPr>
            <a:r>
              <a:t>Prontidão Tecnológica (TRL)</a:t>
            </a:r>
          </a:p>
          <a:p>
            <a:pPr>
              <a:defRPr sz="1200">
                <a:solidFill>
                  <a:srgbClr val="2C2416"/>
                </a:solidFill>
              </a:defRPr>
            </a:pPr>
            <a:r>
              <a:t>A ferramenta está em operação real, com interface moderna, hot reload, arquitetura reativa e exportação instantânea de dossiês em PDF.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554480"/>
            <a:ext cx="3328416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73736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4A7C59"/>
                </a:solidFill>
              </a:defRPr>
            </a:pPr>
            <a:r>
              <a:t>Escalabilidade Territorial</a:t>
            </a:r>
          </a:p>
          <a:p>
            <a:pPr>
              <a:defRPr sz="1200">
                <a:solidFill>
                  <a:srgbClr val="2C2416"/>
                </a:solidFill>
              </a:defRPr>
            </a:pPr>
            <a:r>
              <a:t>Estruturada sobre dados nacionais (IBGE/MapBiomas), a metodologia pode ser facilmente expandida para todos os 184 municípios do Ceará e os 9 estados do Nordeste.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1" y="1554480"/>
            <a:ext cx="3328416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1" y="173736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BE871E"/>
                </a:solidFill>
              </a:defRPr>
            </a:pPr>
            <a:r>
              <a:t>Impacto Social e Climático Mensurável</a:t>
            </a:r>
          </a:p>
          <a:p>
            <a:pPr>
              <a:defRPr sz="1200">
                <a:solidFill>
                  <a:srgbClr val="2C2416"/>
                </a:solidFill>
              </a:defRPr>
            </a:pPr>
            <a:r>
              <a:t>Cada investimento é monitorável via IPSE, garantindo que o recurso financeiro promova energia limpa aliada à redução da pobreza extrema.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